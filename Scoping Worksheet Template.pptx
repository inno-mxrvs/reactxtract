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33_0.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30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509F739-A35C-868F-65C9-A81287086B44}" name="Benhur Calingo" initials="BC" userId="S::abz@innodata.com::c5c0c867-c4bf-4dde-9d5e-2b6a400cf026" providerId="AD"/>
  <p188:author id="{64552DC5-E3C2-FC1D-457D-3143F16128BE}" name="Calingasan, Rosalie" initials="CR" userId="S::xbz@innodata.com::40098669-2167-4030-ac3b-27d8d68cc39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57AABF-C128-4912-9427-600CB963C6E2}" v="577" dt="2026-10-20T06:45:06.592"/>
    <p1510:client id="{9F0067E1-9A1D-4954-A307-7BD435DBC200}" v="94" dt="2026-10-20T05:57:35.4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omments/modernComment_133_0.xml><?xml version="1.0" encoding="utf-8"?>
<p188:cmLst xmlns:a="http://schemas.openxmlformats.org/drawingml/2006/main" xmlns:r="http://schemas.openxmlformats.org/officeDocument/2006/relationships" xmlns:p188="http://schemas.microsoft.com/office/powerpoint/2018/8/main">
  <p188:cm id="{90482325-202D-49FD-B97F-43BA5607AA71}" authorId="{64552DC5-E3C2-FC1D-457D-3143F16128BE}" created="2026-07-07T13:00:43.640">
    <ac:txMkLst xmlns:ac="http://schemas.microsoft.com/office/drawing/2013/main/command">
      <pc:docMk xmlns:pc="http://schemas.microsoft.com/office/powerpoint/2013/main/command"/>
      <pc:sldMk xmlns:pc="http://schemas.microsoft.com/office/powerpoint/2013/main/command" cId="0" sldId="307"/>
      <ac:spMk id="8" creationId="{00000000-0000-0000-0000-000000000000}"/>
      <ac:txMk cp="0">
        <ac:context len="159" hash="549646697"/>
      </ac:txMk>
    </ac:txMkLst>
    <p188:pos x="1393371" y="174171"/>
    <p188:replyLst>
      <p188:reply id="{685A2E02-6442-6D43-ACFA-702D81A0712D}" authorId="{E509F739-A35C-868F-65C9-A81287086B44}" created="2026-07-07T14:07:25.937">
        <p188:txBody>
          <a:bodyPr/>
          <a:lstStyle/>
          <a:p>
            <a:r>
              <a:rPr lang="en-US"/>
              <a:t>It is 28, I erred earlier. An analyst can process 28 cases per day. That is the current productivity per day per analyst. </a:t>
            </a:r>
          </a:p>
        </p188:txBody>
      </p188:reply>
    </p188:replyLst>
    <p188:txBody>
      <a:bodyPr/>
      <a:lstStyle/>
      <a:p>
        <a:r>
          <a:rPr lang="en-US"/>
          <a:t>Is this 28 or 18?</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62F217-1CAD-48C6-A981-6FE49D3B2F61}"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4C4FAB-9067-442E-94DD-21F9EA5791A0}" type="slidenum">
              <a:rPr lang="en-US" smtClean="0"/>
              <a:t>‹#›</a:t>
            </a:fld>
            <a:endParaRPr lang="en-US"/>
          </a:p>
        </p:txBody>
      </p:sp>
    </p:spTree>
    <p:extLst>
      <p:ext uri="{BB962C8B-B14F-4D97-AF65-F5344CB8AC3E}">
        <p14:creationId xmlns:p14="http://schemas.microsoft.com/office/powerpoint/2010/main" val="251055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the tool you'll fill out, right now, at your table. Six lines. Your problem in one sentence, from your brief. What you're building: extraction, generation, Q&amp;A, classify, or an agent. The one use case, written as input to output. The data you'll use, and can actually get your hands on this week. Your success measure and the pass mark. And what you'll show at Demo Day. Keep every answer to a line. If you can fill these six lines honestly you have a scope; if you're struggling to keep an answer to one line, that's the signal your scope is still too big. You've got twenty minutes, and the handout has room to write.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05439-267D-1072-562A-2818BC2125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9D096F-139E-D34E-87CA-79C35B4D44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9A34FD1-7E68-8505-B61C-5904F382441C}"/>
              </a:ext>
            </a:extLst>
          </p:cNvPr>
          <p:cNvSpPr>
            <a:spLocks noGrp="1"/>
          </p:cNvSpPr>
          <p:nvPr>
            <p:ph type="dt" sz="half" idx="10"/>
          </p:nvPr>
        </p:nvSpPr>
        <p:spPr/>
        <p:txBody>
          <a:bodyPr/>
          <a:lstStyle/>
          <a:p>
            <a:fld id="{23B23654-CA08-463F-AFF7-9D9FD07FD394}" type="datetimeFigureOut">
              <a:rPr lang="en-US" smtClean="0"/>
              <a:t>10/20/2026</a:t>
            </a:fld>
            <a:endParaRPr lang="en-US"/>
          </a:p>
        </p:txBody>
      </p:sp>
      <p:sp>
        <p:nvSpPr>
          <p:cNvPr id="5" name="Footer Placeholder 4">
            <a:extLst>
              <a:ext uri="{FF2B5EF4-FFF2-40B4-BE49-F238E27FC236}">
                <a16:creationId xmlns:a16="http://schemas.microsoft.com/office/drawing/2014/main" id="{EBD68EBB-BBAE-3D86-378F-732A39EC43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DF6342-B349-CE00-89B9-6144E18CFCE6}"/>
              </a:ext>
            </a:extLst>
          </p:cNvPr>
          <p:cNvSpPr>
            <a:spLocks noGrp="1"/>
          </p:cNvSpPr>
          <p:nvPr>
            <p:ph type="sldNum" sz="quarter" idx="12"/>
          </p:nvPr>
        </p:nvSpPr>
        <p:spPr/>
        <p:txBody>
          <a:bodyPr/>
          <a:lstStyle/>
          <a:p>
            <a:fld id="{45D06B99-5A24-4A48-84C2-5B96B2FFCFAA}" type="slidenum">
              <a:rPr lang="en-US" smtClean="0"/>
              <a:t>‹#›</a:t>
            </a:fld>
            <a:endParaRPr lang="en-US"/>
          </a:p>
        </p:txBody>
      </p:sp>
    </p:spTree>
    <p:extLst>
      <p:ext uri="{BB962C8B-B14F-4D97-AF65-F5344CB8AC3E}">
        <p14:creationId xmlns:p14="http://schemas.microsoft.com/office/powerpoint/2010/main" val="3196870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2BCE4-A544-1CD3-2FBB-02DC608E85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81AEC7-4D8A-87DF-0C69-30B7D7C30E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9BD902-0299-8D98-DFDF-E29C64E7010E}"/>
              </a:ext>
            </a:extLst>
          </p:cNvPr>
          <p:cNvSpPr>
            <a:spLocks noGrp="1"/>
          </p:cNvSpPr>
          <p:nvPr>
            <p:ph type="dt" sz="half" idx="10"/>
          </p:nvPr>
        </p:nvSpPr>
        <p:spPr/>
        <p:txBody>
          <a:bodyPr/>
          <a:lstStyle/>
          <a:p>
            <a:fld id="{23B23654-CA08-463F-AFF7-9D9FD07FD394}" type="datetimeFigureOut">
              <a:rPr lang="en-US" smtClean="0"/>
              <a:t>10/20/2026</a:t>
            </a:fld>
            <a:endParaRPr lang="en-US"/>
          </a:p>
        </p:txBody>
      </p:sp>
      <p:sp>
        <p:nvSpPr>
          <p:cNvPr id="5" name="Footer Placeholder 4">
            <a:extLst>
              <a:ext uri="{FF2B5EF4-FFF2-40B4-BE49-F238E27FC236}">
                <a16:creationId xmlns:a16="http://schemas.microsoft.com/office/drawing/2014/main" id="{E0CEE94A-8CEA-28A9-519A-575B2E4CC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F6C70A-58B6-14F5-BE54-426259075277}"/>
              </a:ext>
            </a:extLst>
          </p:cNvPr>
          <p:cNvSpPr>
            <a:spLocks noGrp="1"/>
          </p:cNvSpPr>
          <p:nvPr>
            <p:ph type="sldNum" sz="quarter" idx="12"/>
          </p:nvPr>
        </p:nvSpPr>
        <p:spPr/>
        <p:txBody>
          <a:bodyPr/>
          <a:lstStyle/>
          <a:p>
            <a:fld id="{45D06B99-5A24-4A48-84C2-5B96B2FFCFAA}" type="slidenum">
              <a:rPr lang="en-US" smtClean="0"/>
              <a:t>‹#›</a:t>
            </a:fld>
            <a:endParaRPr lang="en-US"/>
          </a:p>
        </p:txBody>
      </p:sp>
    </p:spTree>
    <p:extLst>
      <p:ext uri="{BB962C8B-B14F-4D97-AF65-F5344CB8AC3E}">
        <p14:creationId xmlns:p14="http://schemas.microsoft.com/office/powerpoint/2010/main" val="3401994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1E459-78A6-0C49-F826-A3CE2B1C094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E71A5D-669C-FAE6-DFAD-8DEF93FC65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4EB7A8-A0B6-F1E1-422A-29AE3BDFD07C}"/>
              </a:ext>
            </a:extLst>
          </p:cNvPr>
          <p:cNvSpPr>
            <a:spLocks noGrp="1"/>
          </p:cNvSpPr>
          <p:nvPr>
            <p:ph type="dt" sz="half" idx="10"/>
          </p:nvPr>
        </p:nvSpPr>
        <p:spPr/>
        <p:txBody>
          <a:bodyPr/>
          <a:lstStyle/>
          <a:p>
            <a:fld id="{23B23654-CA08-463F-AFF7-9D9FD07FD394}" type="datetimeFigureOut">
              <a:rPr lang="en-US" smtClean="0"/>
              <a:t>10/20/2026</a:t>
            </a:fld>
            <a:endParaRPr lang="en-US"/>
          </a:p>
        </p:txBody>
      </p:sp>
      <p:sp>
        <p:nvSpPr>
          <p:cNvPr id="5" name="Footer Placeholder 4">
            <a:extLst>
              <a:ext uri="{FF2B5EF4-FFF2-40B4-BE49-F238E27FC236}">
                <a16:creationId xmlns:a16="http://schemas.microsoft.com/office/drawing/2014/main" id="{30463619-774A-67DA-A026-1C803D9709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43F018-A72F-6BF0-E0F0-5346251ACC00}"/>
              </a:ext>
            </a:extLst>
          </p:cNvPr>
          <p:cNvSpPr>
            <a:spLocks noGrp="1"/>
          </p:cNvSpPr>
          <p:nvPr>
            <p:ph type="sldNum" sz="quarter" idx="12"/>
          </p:nvPr>
        </p:nvSpPr>
        <p:spPr/>
        <p:txBody>
          <a:bodyPr/>
          <a:lstStyle/>
          <a:p>
            <a:fld id="{45D06B99-5A24-4A48-84C2-5B96B2FFCFAA}" type="slidenum">
              <a:rPr lang="en-US" smtClean="0"/>
              <a:t>‹#›</a:t>
            </a:fld>
            <a:endParaRPr lang="en-US"/>
          </a:p>
        </p:txBody>
      </p:sp>
    </p:spTree>
    <p:extLst>
      <p:ext uri="{BB962C8B-B14F-4D97-AF65-F5344CB8AC3E}">
        <p14:creationId xmlns:p14="http://schemas.microsoft.com/office/powerpoint/2010/main" val="1036040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CE3E4-0E52-3FE0-D42A-8E7BEE7542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000843-815A-EC91-E8CC-5631D9D5B2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CBB1C3-C5A3-5A9E-F833-48A2EA0DAA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09F6D54-460E-11A6-DD87-9E864B467BC9}"/>
              </a:ext>
            </a:extLst>
          </p:cNvPr>
          <p:cNvSpPr>
            <a:spLocks noGrp="1"/>
          </p:cNvSpPr>
          <p:nvPr>
            <p:ph type="dt" sz="half" idx="10"/>
          </p:nvPr>
        </p:nvSpPr>
        <p:spPr/>
        <p:txBody>
          <a:bodyPr/>
          <a:lstStyle/>
          <a:p>
            <a:fld id="{23B23654-CA08-463F-AFF7-9D9FD07FD394}" type="datetimeFigureOut">
              <a:rPr lang="en-US" smtClean="0"/>
              <a:t>10/20/2026</a:t>
            </a:fld>
            <a:endParaRPr lang="en-US"/>
          </a:p>
        </p:txBody>
      </p:sp>
      <p:sp>
        <p:nvSpPr>
          <p:cNvPr id="6" name="Footer Placeholder 5">
            <a:extLst>
              <a:ext uri="{FF2B5EF4-FFF2-40B4-BE49-F238E27FC236}">
                <a16:creationId xmlns:a16="http://schemas.microsoft.com/office/drawing/2014/main" id="{AE553F95-8895-30DF-E406-F31D97C1EF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872267-C0D8-9507-F7EB-6993D59D85CD}"/>
              </a:ext>
            </a:extLst>
          </p:cNvPr>
          <p:cNvSpPr>
            <a:spLocks noGrp="1"/>
          </p:cNvSpPr>
          <p:nvPr>
            <p:ph type="sldNum" sz="quarter" idx="12"/>
          </p:nvPr>
        </p:nvSpPr>
        <p:spPr/>
        <p:txBody>
          <a:bodyPr/>
          <a:lstStyle/>
          <a:p>
            <a:fld id="{45D06B99-5A24-4A48-84C2-5B96B2FFCFAA}" type="slidenum">
              <a:rPr lang="en-US" smtClean="0"/>
              <a:t>‹#›</a:t>
            </a:fld>
            <a:endParaRPr lang="en-US"/>
          </a:p>
        </p:txBody>
      </p:sp>
    </p:spTree>
    <p:extLst>
      <p:ext uri="{BB962C8B-B14F-4D97-AF65-F5344CB8AC3E}">
        <p14:creationId xmlns:p14="http://schemas.microsoft.com/office/powerpoint/2010/main" val="6851457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3FAAB-5548-DF0A-50EB-388AB205D7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1339A1-2581-9155-CBE0-AB48226F0A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50C142-6095-1133-939A-FD49318AAB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B85E5E4-C329-B009-0A0D-2D65DFA06B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2F1997-431F-4848-7ACB-1B5EB2F8DC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0F810E-836D-B23F-0BA1-458EE07B523F}"/>
              </a:ext>
            </a:extLst>
          </p:cNvPr>
          <p:cNvSpPr>
            <a:spLocks noGrp="1"/>
          </p:cNvSpPr>
          <p:nvPr>
            <p:ph type="dt" sz="half" idx="10"/>
          </p:nvPr>
        </p:nvSpPr>
        <p:spPr/>
        <p:txBody>
          <a:bodyPr/>
          <a:lstStyle/>
          <a:p>
            <a:fld id="{23B23654-CA08-463F-AFF7-9D9FD07FD394}" type="datetimeFigureOut">
              <a:rPr lang="en-US" smtClean="0"/>
              <a:t>10/20/2026</a:t>
            </a:fld>
            <a:endParaRPr lang="en-US"/>
          </a:p>
        </p:txBody>
      </p:sp>
      <p:sp>
        <p:nvSpPr>
          <p:cNvPr id="8" name="Footer Placeholder 7">
            <a:extLst>
              <a:ext uri="{FF2B5EF4-FFF2-40B4-BE49-F238E27FC236}">
                <a16:creationId xmlns:a16="http://schemas.microsoft.com/office/drawing/2014/main" id="{A02AAA00-0C5F-223F-279E-1A82DA95E4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AE9D2B-94FD-6BD6-9D5B-143A55EC4D54}"/>
              </a:ext>
            </a:extLst>
          </p:cNvPr>
          <p:cNvSpPr>
            <a:spLocks noGrp="1"/>
          </p:cNvSpPr>
          <p:nvPr>
            <p:ph type="sldNum" sz="quarter" idx="12"/>
          </p:nvPr>
        </p:nvSpPr>
        <p:spPr/>
        <p:txBody>
          <a:bodyPr/>
          <a:lstStyle/>
          <a:p>
            <a:fld id="{45D06B99-5A24-4A48-84C2-5B96B2FFCFAA}" type="slidenum">
              <a:rPr lang="en-US" smtClean="0"/>
              <a:t>‹#›</a:t>
            </a:fld>
            <a:endParaRPr lang="en-US"/>
          </a:p>
        </p:txBody>
      </p:sp>
    </p:spTree>
    <p:extLst>
      <p:ext uri="{BB962C8B-B14F-4D97-AF65-F5344CB8AC3E}">
        <p14:creationId xmlns:p14="http://schemas.microsoft.com/office/powerpoint/2010/main" val="45978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35F80-60A0-C7A4-6618-8E87B81387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F6ED9C8-D17C-5DB0-7748-811EE959FF6A}"/>
              </a:ext>
            </a:extLst>
          </p:cNvPr>
          <p:cNvSpPr>
            <a:spLocks noGrp="1"/>
          </p:cNvSpPr>
          <p:nvPr>
            <p:ph type="dt" sz="half" idx="10"/>
          </p:nvPr>
        </p:nvSpPr>
        <p:spPr/>
        <p:txBody>
          <a:bodyPr/>
          <a:lstStyle/>
          <a:p>
            <a:fld id="{23B23654-CA08-463F-AFF7-9D9FD07FD394}" type="datetimeFigureOut">
              <a:rPr lang="en-US" smtClean="0"/>
              <a:t>10/20/2026</a:t>
            </a:fld>
            <a:endParaRPr lang="en-US"/>
          </a:p>
        </p:txBody>
      </p:sp>
      <p:sp>
        <p:nvSpPr>
          <p:cNvPr id="4" name="Footer Placeholder 3">
            <a:extLst>
              <a:ext uri="{FF2B5EF4-FFF2-40B4-BE49-F238E27FC236}">
                <a16:creationId xmlns:a16="http://schemas.microsoft.com/office/drawing/2014/main" id="{CE5E9204-FB99-8BB5-BE62-530C100794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9EDBC6-1B5E-9036-AC99-96852F15ABF6}"/>
              </a:ext>
            </a:extLst>
          </p:cNvPr>
          <p:cNvSpPr>
            <a:spLocks noGrp="1"/>
          </p:cNvSpPr>
          <p:nvPr>
            <p:ph type="sldNum" sz="quarter" idx="12"/>
          </p:nvPr>
        </p:nvSpPr>
        <p:spPr/>
        <p:txBody>
          <a:bodyPr/>
          <a:lstStyle/>
          <a:p>
            <a:fld id="{45D06B99-5A24-4A48-84C2-5B96B2FFCFAA}" type="slidenum">
              <a:rPr lang="en-US" smtClean="0"/>
              <a:t>‹#›</a:t>
            </a:fld>
            <a:endParaRPr lang="en-US"/>
          </a:p>
        </p:txBody>
      </p:sp>
    </p:spTree>
    <p:extLst>
      <p:ext uri="{BB962C8B-B14F-4D97-AF65-F5344CB8AC3E}">
        <p14:creationId xmlns:p14="http://schemas.microsoft.com/office/powerpoint/2010/main" val="3160001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5991E2-0F46-514F-5740-8AA2AA9FCFF4}"/>
              </a:ext>
            </a:extLst>
          </p:cNvPr>
          <p:cNvSpPr>
            <a:spLocks noGrp="1"/>
          </p:cNvSpPr>
          <p:nvPr>
            <p:ph type="dt" sz="half" idx="10"/>
          </p:nvPr>
        </p:nvSpPr>
        <p:spPr/>
        <p:txBody>
          <a:bodyPr/>
          <a:lstStyle/>
          <a:p>
            <a:fld id="{23B23654-CA08-463F-AFF7-9D9FD07FD394}" type="datetimeFigureOut">
              <a:rPr lang="en-US" smtClean="0"/>
              <a:t>10/20/2026</a:t>
            </a:fld>
            <a:endParaRPr lang="en-US"/>
          </a:p>
        </p:txBody>
      </p:sp>
      <p:sp>
        <p:nvSpPr>
          <p:cNvPr id="3" name="Footer Placeholder 2">
            <a:extLst>
              <a:ext uri="{FF2B5EF4-FFF2-40B4-BE49-F238E27FC236}">
                <a16:creationId xmlns:a16="http://schemas.microsoft.com/office/drawing/2014/main" id="{1AE9D458-1FD0-EFC5-37DA-7C84D7C1E8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F468F9-2138-098D-7DA9-F37486BA6E18}"/>
              </a:ext>
            </a:extLst>
          </p:cNvPr>
          <p:cNvSpPr>
            <a:spLocks noGrp="1"/>
          </p:cNvSpPr>
          <p:nvPr>
            <p:ph type="sldNum" sz="quarter" idx="12"/>
          </p:nvPr>
        </p:nvSpPr>
        <p:spPr/>
        <p:txBody>
          <a:bodyPr/>
          <a:lstStyle/>
          <a:p>
            <a:fld id="{45D06B99-5A24-4A48-84C2-5B96B2FFCFAA}" type="slidenum">
              <a:rPr lang="en-US" smtClean="0"/>
              <a:t>‹#›</a:t>
            </a:fld>
            <a:endParaRPr lang="en-US"/>
          </a:p>
        </p:txBody>
      </p:sp>
    </p:spTree>
    <p:extLst>
      <p:ext uri="{BB962C8B-B14F-4D97-AF65-F5344CB8AC3E}">
        <p14:creationId xmlns:p14="http://schemas.microsoft.com/office/powerpoint/2010/main" val="234030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1254E-DDEE-1476-A1F0-B69CB49FFF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4E25E9-2BCF-1EB6-66A0-2F14BAAAD8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EC5EF9-82DB-D65A-5911-D3B098D5BC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456E55-8A70-0D10-5CD4-D99D92A5F245}"/>
              </a:ext>
            </a:extLst>
          </p:cNvPr>
          <p:cNvSpPr>
            <a:spLocks noGrp="1"/>
          </p:cNvSpPr>
          <p:nvPr>
            <p:ph type="dt" sz="half" idx="10"/>
          </p:nvPr>
        </p:nvSpPr>
        <p:spPr/>
        <p:txBody>
          <a:bodyPr/>
          <a:lstStyle/>
          <a:p>
            <a:fld id="{23B23654-CA08-463F-AFF7-9D9FD07FD394}" type="datetimeFigureOut">
              <a:rPr lang="en-US" smtClean="0"/>
              <a:t>10/20/2026</a:t>
            </a:fld>
            <a:endParaRPr lang="en-US"/>
          </a:p>
        </p:txBody>
      </p:sp>
      <p:sp>
        <p:nvSpPr>
          <p:cNvPr id="6" name="Footer Placeholder 5">
            <a:extLst>
              <a:ext uri="{FF2B5EF4-FFF2-40B4-BE49-F238E27FC236}">
                <a16:creationId xmlns:a16="http://schemas.microsoft.com/office/drawing/2014/main" id="{674A36E2-BA4C-9A2C-1D84-572A4337A0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8B8796-0C85-4A4E-5C44-B27E04989A3D}"/>
              </a:ext>
            </a:extLst>
          </p:cNvPr>
          <p:cNvSpPr>
            <a:spLocks noGrp="1"/>
          </p:cNvSpPr>
          <p:nvPr>
            <p:ph type="sldNum" sz="quarter" idx="12"/>
          </p:nvPr>
        </p:nvSpPr>
        <p:spPr/>
        <p:txBody>
          <a:bodyPr/>
          <a:lstStyle/>
          <a:p>
            <a:fld id="{45D06B99-5A24-4A48-84C2-5B96B2FFCFAA}" type="slidenum">
              <a:rPr lang="en-US" smtClean="0"/>
              <a:t>‹#›</a:t>
            </a:fld>
            <a:endParaRPr lang="en-US"/>
          </a:p>
        </p:txBody>
      </p:sp>
    </p:spTree>
    <p:extLst>
      <p:ext uri="{BB962C8B-B14F-4D97-AF65-F5344CB8AC3E}">
        <p14:creationId xmlns:p14="http://schemas.microsoft.com/office/powerpoint/2010/main" val="3768640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B38C-7C56-B330-1A85-FDB981A5A5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CAFF18-6F6E-EE41-FB01-7B7D411D2B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6366D4-D147-3E3D-A135-97EE71A18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16B404-7010-968C-2B98-56F28008D032}"/>
              </a:ext>
            </a:extLst>
          </p:cNvPr>
          <p:cNvSpPr>
            <a:spLocks noGrp="1"/>
          </p:cNvSpPr>
          <p:nvPr>
            <p:ph type="dt" sz="half" idx="10"/>
          </p:nvPr>
        </p:nvSpPr>
        <p:spPr/>
        <p:txBody>
          <a:bodyPr/>
          <a:lstStyle/>
          <a:p>
            <a:fld id="{23B23654-CA08-463F-AFF7-9D9FD07FD394}" type="datetimeFigureOut">
              <a:rPr lang="en-US" smtClean="0"/>
              <a:t>10/20/2026</a:t>
            </a:fld>
            <a:endParaRPr lang="en-US"/>
          </a:p>
        </p:txBody>
      </p:sp>
      <p:sp>
        <p:nvSpPr>
          <p:cNvPr id="6" name="Footer Placeholder 5">
            <a:extLst>
              <a:ext uri="{FF2B5EF4-FFF2-40B4-BE49-F238E27FC236}">
                <a16:creationId xmlns:a16="http://schemas.microsoft.com/office/drawing/2014/main" id="{220954CB-A931-C55A-41CF-78061D3DCC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72BEA8-03A5-9568-66CD-9B10D9F402D7}"/>
              </a:ext>
            </a:extLst>
          </p:cNvPr>
          <p:cNvSpPr>
            <a:spLocks noGrp="1"/>
          </p:cNvSpPr>
          <p:nvPr>
            <p:ph type="sldNum" sz="quarter" idx="12"/>
          </p:nvPr>
        </p:nvSpPr>
        <p:spPr/>
        <p:txBody>
          <a:bodyPr/>
          <a:lstStyle/>
          <a:p>
            <a:fld id="{45D06B99-5A24-4A48-84C2-5B96B2FFCFAA}" type="slidenum">
              <a:rPr lang="en-US" smtClean="0"/>
              <a:t>‹#›</a:t>
            </a:fld>
            <a:endParaRPr lang="en-US"/>
          </a:p>
        </p:txBody>
      </p:sp>
    </p:spTree>
    <p:extLst>
      <p:ext uri="{BB962C8B-B14F-4D97-AF65-F5344CB8AC3E}">
        <p14:creationId xmlns:p14="http://schemas.microsoft.com/office/powerpoint/2010/main" val="3694892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FE615-6406-9840-2711-4163A80FFA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21ABB9-53E7-6644-C342-F169547E6D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5A01DC-B2F9-2238-6B89-0DFEC2138F97}"/>
              </a:ext>
            </a:extLst>
          </p:cNvPr>
          <p:cNvSpPr>
            <a:spLocks noGrp="1"/>
          </p:cNvSpPr>
          <p:nvPr>
            <p:ph type="dt" sz="half" idx="10"/>
          </p:nvPr>
        </p:nvSpPr>
        <p:spPr/>
        <p:txBody>
          <a:bodyPr/>
          <a:lstStyle/>
          <a:p>
            <a:fld id="{23B23654-CA08-463F-AFF7-9D9FD07FD394}" type="datetimeFigureOut">
              <a:rPr lang="en-US" smtClean="0"/>
              <a:t>10/20/2026</a:t>
            </a:fld>
            <a:endParaRPr lang="en-US"/>
          </a:p>
        </p:txBody>
      </p:sp>
      <p:sp>
        <p:nvSpPr>
          <p:cNvPr id="5" name="Footer Placeholder 4">
            <a:extLst>
              <a:ext uri="{FF2B5EF4-FFF2-40B4-BE49-F238E27FC236}">
                <a16:creationId xmlns:a16="http://schemas.microsoft.com/office/drawing/2014/main" id="{E2A6E654-C8B8-4186-AC5D-9691ACEDE7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D03886-0503-8493-EC5C-93825785C1D1}"/>
              </a:ext>
            </a:extLst>
          </p:cNvPr>
          <p:cNvSpPr>
            <a:spLocks noGrp="1"/>
          </p:cNvSpPr>
          <p:nvPr>
            <p:ph type="sldNum" sz="quarter" idx="12"/>
          </p:nvPr>
        </p:nvSpPr>
        <p:spPr/>
        <p:txBody>
          <a:bodyPr/>
          <a:lstStyle/>
          <a:p>
            <a:fld id="{45D06B99-5A24-4A48-84C2-5B96B2FFCFAA}" type="slidenum">
              <a:rPr lang="en-US" smtClean="0"/>
              <a:t>‹#›</a:t>
            </a:fld>
            <a:endParaRPr lang="en-US"/>
          </a:p>
        </p:txBody>
      </p:sp>
    </p:spTree>
    <p:extLst>
      <p:ext uri="{BB962C8B-B14F-4D97-AF65-F5344CB8AC3E}">
        <p14:creationId xmlns:p14="http://schemas.microsoft.com/office/powerpoint/2010/main" val="2316118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EB47D0-AEA7-300E-1176-BD30DFB57D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8D94CD-F5B2-7400-C495-156E076E9F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6578E8-C22A-82E4-38BC-75930770FB13}"/>
              </a:ext>
            </a:extLst>
          </p:cNvPr>
          <p:cNvSpPr>
            <a:spLocks noGrp="1"/>
          </p:cNvSpPr>
          <p:nvPr>
            <p:ph type="dt" sz="half" idx="10"/>
          </p:nvPr>
        </p:nvSpPr>
        <p:spPr/>
        <p:txBody>
          <a:bodyPr/>
          <a:lstStyle/>
          <a:p>
            <a:fld id="{23B23654-CA08-463F-AFF7-9D9FD07FD394}" type="datetimeFigureOut">
              <a:rPr lang="en-US" smtClean="0"/>
              <a:t>10/20/2026</a:t>
            </a:fld>
            <a:endParaRPr lang="en-US"/>
          </a:p>
        </p:txBody>
      </p:sp>
      <p:sp>
        <p:nvSpPr>
          <p:cNvPr id="5" name="Footer Placeholder 4">
            <a:extLst>
              <a:ext uri="{FF2B5EF4-FFF2-40B4-BE49-F238E27FC236}">
                <a16:creationId xmlns:a16="http://schemas.microsoft.com/office/drawing/2014/main" id="{5F35E12A-114B-0B22-EF4D-060C123EC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E27810-36A0-2215-A7E4-B3BC7FA381D6}"/>
              </a:ext>
            </a:extLst>
          </p:cNvPr>
          <p:cNvSpPr>
            <a:spLocks noGrp="1"/>
          </p:cNvSpPr>
          <p:nvPr>
            <p:ph type="sldNum" sz="quarter" idx="12"/>
          </p:nvPr>
        </p:nvSpPr>
        <p:spPr/>
        <p:txBody>
          <a:bodyPr/>
          <a:lstStyle/>
          <a:p>
            <a:fld id="{45D06B99-5A24-4A48-84C2-5B96B2FFCFAA}" type="slidenum">
              <a:rPr lang="en-US" smtClean="0"/>
              <a:t>‹#›</a:t>
            </a:fld>
            <a:endParaRPr lang="en-US"/>
          </a:p>
        </p:txBody>
      </p:sp>
    </p:spTree>
    <p:extLst>
      <p:ext uri="{BB962C8B-B14F-4D97-AF65-F5344CB8AC3E}">
        <p14:creationId xmlns:p14="http://schemas.microsoft.com/office/powerpoint/2010/main" val="1926837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022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D5C75E-A8D0-C368-77D8-027EFCF319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63E4B8-4FBF-C555-959A-E3BFA47788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3E860E-E741-5054-2291-6731A29CF9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B23654-CA08-463F-AFF7-9D9FD07FD394}" type="datetimeFigureOut">
              <a:rPr lang="en-US" smtClean="0"/>
              <a:t>10/20/2026</a:t>
            </a:fld>
            <a:endParaRPr lang="en-US"/>
          </a:p>
        </p:txBody>
      </p:sp>
      <p:sp>
        <p:nvSpPr>
          <p:cNvPr id="5" name="Footer Placeholder 4">
            <a:extLst>
              <a:ext uri="{FF2B5EF4-FFF2-40B4-BE49-F238E27FC236}">
                <a16:creationId xmlns:a16="http://schemas.microsoft.com/office/drawing/2014/main" id="{120B7759-D44D-7852-4613-7F367EF88C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77E819A-E37C-3B5A-3776-34B220D3F2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D06B99-5A24-4A48-84C2-5B96B2FFCFAA}" type="slidenum">
              <a:rPr lang="en-US" smtClean="0"/>
              <a:t>‹#›</a:t>
            </a:fld>
            <a:endParaRPr lang="en-US"/>
          </a:p>
        </p:txBody>
      </p:sp>
    </p:spTree>
    <p:extLst>
      <p:ext uri="{BB962C8B-B14F-4D97-AF65-F5344CB8AC3E}">
        <p14:creationId xmlns:p14="http://schemas.microsoft.com/office/powerpoint/2010/main" val="493790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33_0.xm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502920"/>
            <a:ext cx="8229600" cy="274320"/>
          </a:xfrm>
          <a:prstGeom prst="rect">
            <a:avLst/>
          </a:prstGeom>
          <a:noFill/>
          <a:ln/>
        </p:spPr>
        <p:txBody>
          <a:bodyPr wrap="square" lIns="0" tIns="0" rIns="0" bIns="0" rtlCol="0" anchor="ctr"/>
          <a:lstStyle/>
          <a:p>
            <a:r>
              <a:rPr lang="en-PH" sz="1200" b="1" dirty="0" err="1">
                <a:solidFill>
                  <a:srgbClr val="0070C0"/>
                </a:solidFill>
                <a:latin typeface="Calibri" panose="020F0502020204030204" pitchFamily="34" charset="0"/>
                <a:ea typeface="Calibri" panose="020F0502020204030204" pitchFamily="34" charset="0"/>
                <a:cs typeface="Calibri" panose="020F0502020204030204" pitchFamily="34" charset="0"/>
              </a:rPr>
              <a:t>ReactXtractors</a:t>
            </a:r>
            <a:r>
              <a:rPr lang="en-PH" sz="1200" b="1" dirty="0">
                <a:solidFill>
                  <a:srgbClr val="0070C0"/>
                </a:solidFill>
                <a:latin typeface="Calibri" panose="020F0502020204030204" pitchFamily="34" charset="0"/>
                <a:ea typeface="Calibri" panose="020F0502020204030204" pitchFamily="34" charset="0"/>
                <a:cs typeface="Calibri" panose="020F0502020204030204" pitchFamily="34" charset="0"/>
              </a:rPr>
              <a:t> </a:t>
            </a:r>
            <a:r>
              <a:rPr lang="en-PH" sz="1200" dirty="0"/>
              <a:t> </a:t>
            </a:r>
            <a:r>
              <a:rPr lang="en-US" sz="1200" b="1" kern="0" spc="200" dirty="0">
                <a:solidFill>
                  <a:srgbClr val="2563EB"/>
                </a:solidFill>
                <a:latin typeface="Calibri"/>
                <a:ea typeface="Calibri"/>
                <a:cs typeface="Calibri"/>
              </a:rPr>
              <a:t>and Chemical Reaction Data Extraction</a:t>
            </a:r>
          </a:p>
        </p:txBody>
      </p:sp>
      <p:sp>
        <p:nvSpPr>
          <p:cNvPr id="3" name="Text 1"/>
          <p:cNvSpPr/>
          <p:nvPr/>
        </p:nvSpPr>
        <p:spPr>
          <a:xfrm>
            <a:off x="566928" y="822960"/>
            <a:ext cx="11055096" cy="731520"/>
          </a:xfrm>
          <a:prstGeom prst="rect">
            <a:avLst/>
          </a:prstGeom>
          <a:noFill/>
          <a:ln/>
        </p:spPr>
        <p:txBody>
          <a:bodyPr wrap="square" lIns="0" tIns="0" rIns="0" bIns="0" rtlCol="0" anchor="ctr"/>
          <a:lstStyle/>
          <a:p>
            <a:pPr marL="0" indent="0">
              <a:buNone/>
            </a:pPr>
            <a:r>
              <a:rPr lang="en-US" sz="3300" b="1">
                <a:solidFill>
                  <a:srgbClr val="0F1B2D"/>
                </a:solidFill>
                <a:latin typeface="Calibri" pitchFamily="34" charset="0"/>
                <a:ea typeface="Calibri" pitchFamily="34" charset="-122"/>
                <a:cs typeface="Calibri" pitchFamily="34" charset="-120"/>
              </a:rPr>
              <a:t>Fill this out: the scoping worksheet</a:t>
            </a:r>
            <a:endParaRPr lang="en-US" sz="3300"/>
          </a:p>
        </p:txBody>
      </p:sp>
      <p:sp>
        <p:nvSpPr>
          <p:cNvPr id="4" name="Text 2"/>
          <p:cNvSpPr/>
          <p:nvPr/>
        </p:nvSpPr>
        <p:spPr>
          <a:xfrm>
            <a:off x="566928" y="1481328"/>
            <a:ext cx="11055096" cy="365760"/>
          </a:xfrm>
          <a:prstGeom prst="rect">
            <a:avLst/>
          </a:prstGeom>
          <a:noFill/>
          <a:ln/>
        </p:spPr>
        <p:txBody>
          <a:bodyPr wrap="square" lIns="0" tIns="0" rIns="0" bIns="0" rtlCol="0" anchor="ctr"/>
          <a:lstStyle/>
          <a:p>
            <a:pPr marL="0" indent="0">
              <a:buNone/>
            </a:pPr>
            <a:r>
              <a:rPr lang="en-US" sz="1500">
                <a:solidFill>
                  <a:srgbClr val="475569"/>
                </a:solidFill>
                <a:latin typeface="Calibri" pitchFamily="34" charset="0"/>
                <a:ea typeface="Calibri" pitchFamily="34" charset="-122"/>
                <a:cs typeface="Calibri" pitchFamily="34" charset="-120"/>
              </a:rPr>
              <a:t>Twenty minutes at your table. One line each - this becomes your plan.</a:t>
            </a:r>
            <a:endParaRPr lang="en-US" sz="1500"/>
          </a:p>
        </p:txBody>
      </p:sp>
      <p:sp>
        <p:nvSpPr>
          <p:cNvPr id="5" name="Shape 3"/>
          <p:cNvSpPr/>
          <p:nvPr/>
        </p:nvSpPr>
        <p:spPr>
          <a:xfrm>
            <a:off x="566928" y="1965960"/>
            <a:ext cx="329184" cy="329184"/>
          </a:xfrm>
          <a:prstGeom prst="ellipse">
            <a:avLst/>
          </a:prstGeom>
          <a:solidFill>
            <a:srgbClr val="EA580C"/>
          </a:solidFill>
          <a:ln/>
        </p:spPr>
        <p:txBody>
          <a:bodyPr/>
          <a:lstStyle/>
          <a:p>
            <a:endParaRPr lang="en-US"/>
          </a:p>
        </p:txBody>
      </p:sp>
      <p:sp>
        <p:nvSpPr>
          <p:cNvPr id="6" name="Text 4"/>
          <p:cNvSpPr/>
          <p:nvPr/>
        </p:nvSpPr>
        <p:spPr>
          <a:xfrm>
            <a:off x="566928" y="1965960"/>
            <a:ext cx="329184" cy="329184"/>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a:t>
            </a:r>
            <a:endParaRPr lang="en-US" sz="1200"/>
          </a:p>
        </p:txBody>
      </p:sp>
      <p:sp>
        <p:nvSpPr>
          <p:cNvPr id="7" name="Text 5"/>
          <p:cNvSpPr/>
          <p:nvPr/>
        </p:nvSpPr>
        <p:spPr>
          <a:xfrm>
            <a:off x="1024128" y="1947672"/>
            <a:ext cx="10597896" cy="292608"/>
          </a:xfrm>
          <a:prstGeom prst="rect">
            <a:avLst/>
          </a:prstGeom>
          <a:noFill/>
          <a:ln/>
        </p:spPr>
        <p:txBody>
          <a:bodyPr wrap="square" lIns="0" tIns="0" rIns="0" bIns="0" rtlCol="0" anchor="ctr"/>
          <a:lstStyle/>
          <a:p>
            <a:pPr marL="0" indent="0">
              <a:buNone/>
            </a:pPr>
            <a:r>
              <a:rPr lang="en-US" sz="1300" b="1">
                <a:solidFill>
                  <a:srgbClr val="0F1B2D"/>
                </a:solidFill>
                <a:latin typeface="Calibri" pitchFamily="34" charset="0"/>
                <a:ea typeface="Calibri" pitchFamily="34" charset="-122"/>
                <a:cs typeface="Calibri" pitchFamily="34" charset="-120"/>
              </a:rPr>
              <a:t>Problem  (one line, from your brief)</a:t>
            </a:r>
            <a:endParaRPr lang="en-US" sz="1300"/>
          </a:p>
        </p:txBody>
      </p:sp>
      <p:sp>
        <p:nvSpPr>
          <p:cNvPr id="8" name="Shape 6"/>
          <p:cNvSpPr/>
          <p:nvPr/>
        </p:nvSpPr>
        <p:spPr>
          <a:xfrm>
            <a:off x="1024128" y="2203285"/>
            <a:ext cx="10597896" cy="365760"/>
          </a:xfrm>
          <a:prstGeom prst="roundRect">
            <a:avLst>
              <a:gd name="adj" fmla="val 14706"/>
            </a:avLst>
          </a:prstGeom>
          <a:solidFill>
            <a:srgbClr val="EEF2F7"/>
          </a:solidFill>
          <a:ln/>
        </p:spPr>
        <p:txBody>
          <a:bodyPr lIns="91440" tIns="45720" rIns="91440" bIns="45720" anchor="ctr"/>
          <a:lstStyle/>
          <a:p>
            <a:r>
              <a:rPr lang="en-PH" sz="1200" dirty="0"/>
              <a:t>Chemical reaction data is scattered across complex documents, making accurate extraction and interpretation time-consuming, inefficient, and prone to errors. </a:t>
            </a:r>
            <a:endParaRPr lang="en-US" sz="1200" dirty="0">
              <a:latin typeface="Segoe UI" panose="020B0502040204020203" pitchFamily="34" charset="0"/>
            </a:endParaRPr>
          </a:p>
        </p:txBody>
      </p:sp>
      <p:sp>
        <p:nvSpPr>
          <p:cNvPr id="9" name="Shape 7"/>
          <p:cNvSpPr/>
          <p:nvPr/>
        </p:nvSpPr>
        <p:spPr>
          <a:xfrm>
            <a:off x="566928" y="2651760"/>
            <a:ext cx="329184" cy="329184"/>
          </a:xfrm>
          <a:prstGeom prst="ellipse">
            <a:avLst/>
          </a:prstGeom>
          <a:solidFill>
            <a:srgbClr val="EA580C"/>
          </a:solidFill>
          <a:ln/>
        </p:spPr>
        <p:txBody>
          <a:bodyPr/>
          <a:lstStyle/>
          <a:p>
            <a:endParaRPr lang="en-US"/>
          </a:p>
        </p:txBody>
      </p:sp>
      <p:sp>
        <p:nvSpPr>
          <p:cNvPr id="10" name="Text 8"/>
          <p:cNvSpPr/>
          <p:nvPr/>
        </p:nvSpPr>
        <p:spPr>
          <a:xfrm>
            <a:off x="566928" y="2651760"/>
            <a:ext cx="329184" cy="329184"/>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2</a:t>
            </a:r>
            <a:endParaRPr lang="en-US" sz="1200"/>
          </a:p>
        </p:txBody>
      </p:sp>
      <p:sp>
        <p:nvSpPr>
          <p:cNvPr id="11" name="Text 9"/>
          <p:cNvSpPr/>
          <p:nvPr/>
        </p:nvSpPr>
        <p:spPr>
          <a:xfrm>
            <a:off x="1024128" y="2633472"/>
            <a:ext cx="10597896" cy="292608"/>
          </a:xfrm>
          <a:prstGeom prst="rect">
            <a:avLst/>
          </a:prstGeom>
          <a:noFill/>
          <a:ln/>
        </p:spPr>
        <p:txBody>
          <a:bodyPr wrap="square" lIns="0" tIns="0" rIns="0" bIns="0" rtlCol="0" anchor="ctr"/>
          <a:lstStyle/>
          <a:p>
            <a:pPr marL="0" indent="0">
              <a:buNone/>
            </a:pPr>
            <a:r>
              <a:rPr lang="en-US" sz="1300" b="1">
                <a:solidFill>
                  <a:srgbClr val="0F1B2D"/>
                </a:solidFill>
                <a:latin typeface="Calibri" pitchFamily="34" charset="0"/>
                <a:ea typeface="Calibri" pitchFamily="34" charset="-122"/>
                <a:cs typeface="Calibri" pitchFamily="34" charset="-120"/>
              </a:rPr>
              <a:t>What we're building   [ Extraction / Generation / Q&amp;A / Classify / Agent ]</a:t>
            </a:r>
            <a:endParaRPr lang="en-US" sz="1300"/>
          </a:p>
        </p:txBody>
      </p:sp>
      <p:sp>
        <p:nvSpPr>
          <p:cNvPr id="12" name="Shape 10"/>
          <p:cNvSpPr/>
          <p:nvPr/>
        </p:nvSpPr>
        <p:spPr>
          <a:xfrm>
            <a:off x="1024128" y="2962656"/>
            <a:ext cx="10597896" cy="274320"/>
          </a:xfrm>
          <a:prstGeom prst="roundRect">
            <a:avLst>
              <a:gd name="adj" fmla="val 14706"/>
            </a:avLst>
          </a:prstGeom>
          <a:solidFill>
            <a:srgbClr val="EEF2F7"/>
          </a:solidFill>
          <a:ln/>
        </p:spPr>
        <p:txBody>
          <a:bodyPr lIns="91440" tIns="0" rIns="91440" bIns="0" anchor="ctr"/>
          <a:lstStyle/>
          <a:p>
            <a:pPr fontAlgn="t">
              <a:lnSpc>
                <a:spcPts val="1500"/>
              </a:lnSpc>
              <a:buNone/>
            </a:pPr>
            <a:r>
              <a:rPr lang="en-US" sz="1050" dirty="0">
                <a:latin typeface="Segoe UI" panose="020B0502040204020203" pitchFamily="34" charset="0"/>
              </a:rPr>
              <a:t>A Web application with classification, extraction, and generation AI approach</a:t>
            </a:r>
          </a:p>
        </p:txBody>
      </p:sp>
      <p:sp>
        <p:nvSpPr>
          <p:cNvPr id="13" name="Shape 11"/>
          <p:cNvSpPr/>
          <p:nvPr/>
        </p:nvSpPr>
        <p:spPr>
          <a:xfrm>
            <a:off x="566928" y="3337560"/>
            <a:ext cx="329184" cy="329184"/>
          </a:xfrm>
          <a:prstGeom prst="ellipse">
            <a:avLst/>
          </a:prstGeom>
          <a:solidFill>
            <a:srgbClr val="EA580C"/>
          </a:solidFill>
          <a:ln/>
        </p:spPr>
        <p:txBody>
          <a:bodyPr/>
          <a:lstStyle/>
          <a:p>
            <a:endParaRPr lang="en-US"/>
          </a:p>
        </p:txBody>
      </p:sp>
      <p:sp>
        <p:nvSpPr>
          <p:cNvPr id="14" name="Text 12"/>
          <p:cNvSpPr/>
          <p:nvPr/>
        </p:nvSpPr>
        <p:spPr>
          <a:xfrm>
            <a:off x="566928" y="3337560"/>
            <a:ext cx="329184" cy="329184"/>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3</a:t>
            </a:r>
            <a:endParaRPr lang="en-US" sz="1200"/>
          </a:p>
        </p:txBody>
      </p:sp>
      <p:sp>
        <p:nvSpPr>
          <p:cNvPr id="15" name="Text 13"/>
          <p:cNvSpPr/>
          <p:nvPr/>
        </p:nvSpPr>
        <p:spPr>
          <a:xfrm>
            <a:off x="1024128" y="3319272"/>
            <a:ext cx="10597896" cy="292608"/>
          </a:xfrm>
          <a:prstGeom prst="rect">
            <a:avLst/>
          </a:prstGeom>
          <a:noFill/>
          <a:ln/>
        </p:spPr>
        <p:txBody>
          <a:bodyPr wrap="square" lIns="0" tIns="0" rIns="0" bIns="0" rtlCol="0" anchor="ctr"/>
          <a:lstStyle/>
          <a:p>
            <a:pPr marL="0" indent="0">
              <a:buNone/>
            </a:pPr>
            <a:r>
              <a:rPr lang="en-US" sz="1300" b="1">
                <a:solidFill>
                  <a:srgbClr val="0F1B2D"/>
                </a:solidFill>
                <a:latin typeface="Calibri" pitchFamily="34" charset="0"/>
                <a:ea typeface="Calibri" pitchFamily="34" charset="-122"/>
                <a:cs typeface="Calibri" pitchFamily="34" charset="-120"/>
              </a:rPr>
              <a:t>The one use case   (input → output)</a:t>
            </a:r>
            <a:endParaRPr lang="en-US" sz="1300"/>
          </a:p>
        </p:txBody>
      </p:sp>
      <p:sp>
        <p:nvSpPr>
          <p:cNvPr id="16" name="Shape 14"/>
          <p:cNvSpPr/>
          <p:nvPr/>
        </p:nvSpPr>
        <p:spPr>
          <a:xfrm>
            <a:off x="1024128" y="3648456"/>
            <a:ext cx="10597896" cy="310896"/>
          </a:xfrm>
          <a:prstGeom prst="roundRect">
            <a:avLst>
              <a:gd name="adj" fmla="val 14706"/>
            </a:avLst>
          </a:prstGeom>
          <a:solidFill>
            <a:srgbClr val="EEF2F7"/>
          </a:solidFill>
          <a:ln/>
        </p:spPr>
        <p:txBody>
          <a:bodyPr lIns="91440" tIns="45720" rIns="91440" bIns="45720" anchor="t"/>
          <a:lstStyle/>
          <a:p>
            <a:r>
              <a:rPr lang="en-US" sz="1200" dirty="0">
                <a:ea typeface="+mn-lt"/>
                <a:cs typeface="+mn-lt"/>
              </a:rPr>
              <a:t>PDF file containing chemical reactions -&gt; Extracted chemical reaction data + Excel file </a:t>
            </a:r>
            <a:endParaRPr lang="en-US" dirty="0"/>
          </a:p>
        </p:txBody>
      </p:sp>
      <p:sp>
        <p:nvSpPr>
          <p:cNvPr id="17" name="Shape 15"/>
          <p:cNvSpPr/>
          <p:nvPr/>
        </p:nvSpPr>
        <p:spPr>
          <a:xfrm>
            <a:off x="566928" y="4023360"/>
            <a:ext cx="329184" cy="329184"/>
          </a:xfrm>
          <a:prstGeom prst="ellipse">
            <a:avLst/>
          </a:prstGeom>
          <a:solidFill>
            <a:srgbClr val="EA580C"/>
          </a:solidFill>
          <a:ln/>
        </p:spPr>
        <p:txBody>
          <a:bodyPr/>
          <a:lstStyle/>
          <a:p>
            <a:endParaRPr lang="en-US"/>
          </a:p>
        </p:txBody>
      </p:sp>
      <p:sp>
        <p:nvSpPr>
          <p:cNvPr id="18" name="Text 16"/>
          <p:cNvSpPr/>
          <p:nvPr/>
        </p:nvSpPr>
        <p:spPr>
          <a:xfrm>
            <a:off x="566928" y="4023360"/>
            <a:ext cx="329184" cy="329184"/>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4</a:t>
            </a:r>
            <a:endParaRPr lang="en-US" sz="1200"/>
          </a:p>
        </p:txBody>
      </p:sp>
      <p:sp>
        <p:nvSpPr>
          <p:cNvPr id="19" name="Text 17"/>
          <p:cNvSpPr/>
          <p:nvPr/>
        </p:nvSpPr>
        <p:spPr>
          <a:xfrm>
            <a:off x="1024128" y="4005072"/>
            <a:ext cx="10597896" cy="292608"/>
          </a:xfrm>
          <a:prstGeom prst="rect">
            <a:avLst/>
          </a:prstGeom>
          <a:noFill/>
          <a:ln/>
        </p:spPr>
        <p:txBody>
          <a:bodyPr wrap="square" lIns="0" tIns="0" rIns="0" bIns="0" rtlCol="0" anchor="ctr"/>
          <a:lstStyle/>
          <a:p>
            <a:pPr marL="0" indent="0">
              <a:buNone/>
            </a:pPr>
            <a:r>
              <a:rPr lang="en-US" sz="1300" b="1">
                <a:solidFill>
                  <a:srgbClr val="0F1B2D"/>
                </a:solidFill>
                <a:latin typeface="Calibri" pitchFamily="34" charset="0"/>
                <a:ea typeface="Calibri" pitchFamily="34" charset="-122"/>
                <a:cs typeface="Calibri" pitchFamily="34" charset="-120"/>
              </a:rPr>
              <a:t>Data we'll use  (and can actually get this week)</a:t>
            </a:r>
            <a:endParaRPr lang="en-US" sz="1300"/>
          </a:p>
        </p:txBody>
      </p:sp>
      <p:sp>
        <p:nvSpPr>
          <p:cNvPr id="20" name="Shape 18"/>
          <p:cNvSpPr/>
          <p:nvPr/>
        </p:nvSpPr>
        <p:spPr>
          <a:xfrm>
            <a:off x="1024128" y="4334256"/>
            <a:ext cx="10597896" cy="310896"/>
          </a:xfrm>
          <a:prstGeom prst="roundRect">
            <a:avLst>
              <a:gd name="adj" fmla="val 14706"/>
            </a:avLst>
          </a:prstGeom>
          <a:solidFill>
            <a:srgbClr val="EEF2F7"/>
          </a:solidFill>
          <a:ln/>
        </p:spPr>
        <p:txBody>
          <a:bodyPr lIns="91440" tIns="45720" rIns="91440" bIns="45720" anchor="t"/>
          <a:lstStyle/>
          <a:p>
            <a:r>
              <a:rPr lang="en-US" sz="1100" dirty="0">
                <a:latin typeface="Segoe UI"/>
                <a:ea typeface="+mn-lt"/>
                <a:cs typeface="Segoe UI"/>
              </a:rPr>
              <a:t>Journal articles</a:t>
            </a:r>
            <a:endParaRPr lang="en-US" sz="1200" dirty="0"/>
          </a:p>
        </p:txBody>
      </p:sp>
      <p:sp>
        <p:nvSpPr>
          <p:cNvPr id="21" name="Shape 19"/>
          <p:cNvSpPr/>
          <p:nvPr/>
        </p:nvSpPr>
        <p:spPr>
          <a:xfrm>
            <a:off x="566928" y="4709160"/>
            <a:ext cx="329184" cy="329184"/>
          </a:xfrm>
          <a:prstGeom prst="ellipse">
            <a:avLst/>
          </a:prstGeom>
          <a:solidFill>
            <a:srgbClr val="EA580C"/>
          </a:solidFill>
          <a:ln/>
        </p:spPr>
        <p:txBody>
          <a:bodyPr/>
          <a:lstStyle/>
          <a:p>
            <a:endParaRPr lang="en-US"/>
          </a:p>
        </p:txBody>
      </p:sp>
      <p:sp>
        <p:nvSpPr>
          <p:cNvPr id="22" name="Text 20"/>
          <p:cNvSpPr/>
          <p:nvPr/>
        </p:nvSpPr>
        <p:spPr>
          <a:xfrm>
            <a:off x="566928" y="4709160"/>
            <a:ext cx="329184" cy="329184"/>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5</a:t>
            </a:r>
            <a:endParaRPr lang="en-US" sz="1200"/>
          </a:p>
        </p:txBody>
      </p:sp>
      <p:sp>
        <p:nvSpPr>
          <p:cNvPr id="23" name="Text 21"/>
          <p:cNvSpPr/>
          <p:nvPr/>
        </p:nvSpPr>
        <p:spPr>
          <a:xfrm>
            <a:off x="1024128" y="4690872"/>
            <a:ext cx="10597896" cy="292608"/>
          </a:xfrm>
          <a:prstGeom prst="rect">
            <a:avLst/>
          </a:prstGeom>
          <a:noFill/>
          <a:ln/>
        </p:spPr>
        <p:txBody>
          <a:bodyPr wrap="square" lIns="0" tIns="0" rIns="0" bIns="0" rtlCol="0" anchor="ctr"/>
          <a:lstStyle/>
          <a:p>
            <a:pPr marL="0" indent="0">
              <a:buNone/>
            </a:pPr>
            <a:r>
              <a:rPr lang="en-US" sz="1300" b="1">
                <a:solidFill>
                  <a:srgbClr val="0F1B2D"/>
                </a:solidFill>
                <a:latin typeface="Calibri" pitchFamily="34" charset="0"/>
                <a:ea typeface="Calibri" pitchFamily="34" charset="-122"/>
                <a:cs typeface="Calibri" pitchFamily="34" charset="-120"/>
              </a:rPr>
              <a:t>Success measure + pass mark</a:t>
            </a:r>
            <a:endParaRPr lang="en-US" sz="1300"/>
          </a:p>
        </p:txBody>
      </p:sp>
      <p:sp>
        <p:nvSpPr>
          <p:cNvPr id="24" name="Shape 22"/>
          <p:cNvSpPr/>
          <p:nvPr/>
        </p:nvSpPr>
        <p:spPr>
          <a:xfrm>
            <a:off x="1024128" y="4928889"/>
            <a:ext cx="10597896" cy="457200"/>
          </a:xfrm>
          <a:prstGeom prst="roundRect">
            <a:avLst>
              <a:gd name="adj" fmla="val 14706"/>
            </a:avLst>
          </a:prstGeom>
          <a:solidFill>
            <a:srgbClr val="EEF2F7"/>
          </a:solidFill>
          <a:ln/>
        </p:spPr>
        <p:txBody>
          <a:bodyPr lIns="91440" tIns="0" rIns="91440" bIns="0" anchor="t"/>
          <a:lstStyle/>
          <a:p>
            <a:pPr fontAlgn="t">
              <a:lnSpc>
                <a:spcPts val="1500"/>
              </a:lnSpc>
              <a:buNone/>
            </a:pPr>
            <a:r>
              <a:rPr lang="en-US" sz="1050" dirty="0">
                <a:latin typeface="Segoe UI" panose="020B0502040204020203" pitchFamily="34" charset="0"/>
              </a:rPr>
              <a:t>50% processing time reduction, i.e., from 4 hours to 2 hours. Accuracy target is at least 95% F-value.</a:t>
            </a:r>
          </a:p>
        </p:txBody>
      </p:sp>
      <p:sp>
        <p:nvSpPr>
          <p:cNvPr id="25" name="Shape 23"/>
          <p:cNvSpPr/>
          <p:nvPr/>
        </p:nvSpPr>
        <p:spPr>
          <a:xfrm>
            <a:off x="566928" y="5394960"/>
            <a:ext cx="329184" cy="329184"/>
          </a:xfrm>
          <a:prstGeom prst="ellipse">
            <a:avLst/>
          </a:prstGeom>
          <a:solidFill>
            <a:srgbClr val="EA580C"/>
          </a:solidFill>
          <a:ln/>
        </p:spPr>
        <p:txBody>
          <a:bodyPr/>
          <a:lstStyle/>
          <a:p>
            <a:endParaRPr lang="en-US"/>
          </a:p>
        </p:txBody>
      </p:sp>
      <p:sp>
        <p:nvSpPr>
          <p:cNvPr id="26" name="Text 24"/>
          <p:cNvSpPr/>
          <p:nvPr/>
        </p:nvSpPr>
        <p:spPr>
          <a:xfrm>
            <a:off x="566928" y="5394960"/>
            <a:ext cx="329184" cy="329184"/>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6</a:t>
            </a:r>
            <a:endParaRPr lang="en-US" sz="1200"/>
          </a:p>
        </p:txBody>
      </p:sp>
      <p:sp>
        <p:nvSpPr>
          <p:cNvPr id="27" name="Text 25"/>
          <p:cNvSpPr/>
          <p:nvPr/>
        </p:nvSpPr>
        <p:spPr>
          <a:xfrm>
            <a:off x="1024128" y="5376672"/>
            <a:ext cx="10597896" cy="292608"/>
          </a:xfrm>
          <a:prstGeom prst="rect">
            <a:avLst/>
          </a:prstGeom>
          <a:noFill/>
          <a:ln/>
        </p:spPr>
        <p:txBody>
          <a:bodyPr wrap="square" lIns="0" tIns="0" rIns="0" bIns="0" rtlCol="0" anchor="ctr"/>
          <a:lstStyle/>
          <a:p>
            <a:pPr marL="0" indent="0">
              <a:buNone/>
            </a:pPr>
            <a:r>
              <a:rPr lang="en-US" sz="1300" b="1">
                <a:solidFill>
                  <a:srgbClr val="0F1B2D"/>
                </a:solidFill>
                <a:latin typeface="Calibri" pitchFamily="34" charset="0"/>
                <a:ea typeface="Calibri" pitchFamily="34" charset="-122"/>
                <a:cs typeface="Calibri" pitchFamily="34" charset="-120"/>
              </a:rPr>
              <a:t>What we'll show at Demo Day</a:t>
            </a:r>
            <a:endParaRPr lang="en-US" sz="1300"/>
          </a:p>
        </p:txBody>
      </p:sp>
      <p:sp>
        <p:nvSpPr>
          <p:cNvPr id="28" name="Shape 26"/>
          <p:cNvSpPr/>
          <p:nvPr/>
        </p:nvSpPr>
        <p:spPr>
          <a:xfrm>
            <a:off x="1024128" y="5720370"/>
            <a:ext cx="10597896" cy="457200"/>
          </a:xfrm>
          <a:prstGeom prst="roundRect">
            <a:avLst>
              <a:gd name="adj" fmla="val 14706"/>
            </a:avLst>
          </a:prstGeom>
          <a:solidFill>
            <a:srgbClr val="EEF2F7"/>
          </a:solidFill>
          <a:ln/>
        </p:spPr>
        <p:txBody>
          <a:bodyPr lIns="91440" tIns="0" rIns="91440" bIns="0" anchor="t"/>
          <a:lstStyle/>
          <a:p>
            <a:pPr fontAlgn="t">
              <a:lnSpc>
                <a:spcPts val="1500"/>
              </a:lnSpc>
              <a:buNone/>
            </a:pPr>
            <a:r>
              <a:rPr lang="en-US" sz="1050" dirty="0">
                <a:latin typeface="Segoe UI" panose="020B0502040204020203" pitchFamily="34" charset="0"/>
              </a:rPr>
              <a:t>Web application UI with reaction excerption AI output that is ready for copy &amp; pasting to the </a:t>
            </a:r>
            <a:r>
              <a:rPr lang="en-US" sz="1050" dirty="0" err="1">
                <a:latin typeface="Segoe UI" panose="020B0502040204020203" pitchFamily="34" charset="0"/>
              </a:rPr>
              <a:t>iEI</a:t>
            </a:r>
            <a:r>
              <a:rPr lang="en-US" sz="1050" dirty="0">
                <a:latin typeface="Segoe UI" panose="020B0502040204020203" pitchFamily="34" charset="0"/>
              </a:rPr>
              <a:t> tool (</a:t>
            </a:r>
            <a:r>
              <a:rPr lang="en-US" sz="1050" dirty="0" err="1">
                <a:latin typeface="Segoe UI" panose="020B0502040204020203" pitchFamily="34" charset="0"/>
              </a:rPr>
              <a:t>Reaxys</a:t>
            </a:r>
            <a:r>
              <a:rPr lang="en-US" sz="1050">
                <a:latin typeface="Segoe UI" panose="020B0502040204020203" pitchFamily="34" charset="0"/>
              </a:rPr>
              <a:t> excerption tool)</a:t>
            </a:r>
            <a:endParaRPr lang="en-US" sz="1050" dirty="0">
              <a:latin typeface="Segoe UI" panose="020B0502040204020203" pitchFamily="34" charset="0"/>
            </a:endParaRPr>
          </a:p>
        </p:txBody>
      </p:sp>
      <p:sp>
        <p:nvSpPr>
          <p:cNvPr id="29" name="Text 27"/>
          <p:cNvSpPr/>
          <p:nvPr/>
        </p:nvSpPr>
        <p:spPr>
          <a:xfrm>
            <a:off x="1546642" y="6503852"/>
            <a:ext cx="11055096" cy="320040"/>
          </a:xfrm>
          <a:prstGeom prst="rect">
            <a:avLst/>
          </a:prstGeom>
          <a:noFill/>
          <a:ln/>
        </p:spPr>
        <p:txBody>
          <a:bodyPr wrap="square" lIns="0" tIns="0" rIns="0" bIns="0" rtlCol="0" anchor="ctr"/>
          <a:lstStyle/>
          <a:p>
            <a:pPr marL="0" indent="0" algn="ctr">
              <a:buNone/>
            </a:pPr>
            <a:r>
              <a:rPr lang="en-US" sz="1250" i="1" dirty="0">
                <a:solidFill>
                  <a:srgbClr val="475569"/>
                </a:solidFill>
                <a:latin typeface="Calibri" pitchFamily="34" charset="0"/>
                <a:ea typeface="Calibri" pitchFamily="34" charset="-122"/>
                <a:cs typeface="Calibri" pitchFamily="34" charset="-120"/>
              </a:rPr>
              <a:t>If an answer won't fit on one line, your scope is still too big. The handout has room to write.</a:t>
            </a:r>
            <a:endParaRPr lang="en-US" sz="1250" dirty="0"/>
          </a:p>
        </p:txBody>
      </p:sp>
      <p:sp>
        <p:nvSpPr>
          <p:cNvPr id="31" name="Shape 28"/>
          <p:cNvSpPr/>
          <p:nvPr/>
        </p:nvSpPr>
        <p:spPr>
          <a:xfrm>
            <a:off x="581442" y="6524462"/>
            <a:ext cx="3200400" cy="274320"/>
          </a:xfrm>
          <a:prstGeom prst="roundRect">
            <a:avLst>
              <a:gd name="adj" fmla="val 13333"/>
            </a:avLst>
          </a:prstGeom>
          <a:solidFill>
            <a:srgbClr val="1E66D9"/>
          </a:solidFill>
          <a:ln/>
        </p:spPr>
        <p:txBody>
          <a:bodyPr/>
          <a:lstStyle/>
          <a:p>
            <a:endParaRPr lang="en-US"/>
          </a:p>
        </p:txBody>
      </p:sp>
      <p:sp>
        <p:nvSpPr>
          <p:cNvPr id="32" name="Text 29"/>
          <p:cNvSpPr/>
          <p:nvPr/>
        </p:nvSpPr>
        <p:spPr>
          <a:xfrm>
            <a:off x="566928" y="6502690"/>
            <a:ext cx="32004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AI Training Program  ·  October 2026</a:t>
            </a:r>
            <a:endParaRPr lang="en-US" sz="900" dirty="0"/>
          </a:p>
        </p:txBody>
      </p:sp>
      <p:sp>
        <p:nvSpPr>
          <p:cNvPr id="33" name="Text 30"/>
          <p:cNvSpPr/>
          <p:nvPr/>
        </p:nvSpPr>
        <p:spPr>
          <a:xfrm>
            <a:off x="9793224" y="6437376"/>
            <a:ext cx="1463040" cy="274320"/>
          </a:xfrm>
          <a:prstGeom prst="rect">
            <a:avLst/>
          </a:prstGeom>
          <a:noFill/>
          <a:ln/>
        </p:spPr>
        <p:txBody>
          <a:bodyPr wrap="square" lIns="0" tIns="0" rIns="0" bIns="0" rtlCol="0" anchor="ctr"/>
          <a:lstStyle/>
          <a:p>
            <a:pPr marL="0" indent="0" algn="r">
              <a:buNone/>
            </a:pPr>
            <a:r>
              <a:rPr lang="en-US" sz="1000" b="1">
                <a:solidFill>
                  <a:srgbClr val="0F1B2D"/>
                </a:solidFill>
                <a:latin typeface="Calibri" pitchFamily="34" charset="0"/>
                <a:ea typeface="Calibri" pitchFamily="34" charset="-122"/>
                <a:cs typeface="Calibri" pitchFamily="34" charset="-120"/>
              </a:rPr>
              <a:t>Innodata</a:t>
            </a:r>
            <a:r>
              <a:rPr lang="en-US" sz="1000" b="1">
                <a:solidFill>
                  <a:srgbClr val="EA580C"/>
                </a:solidFill>
                <a:latin typeface="Calibri" pitchFamily="34" charset="0"/>
                <a:ea typeface="Calibri" pitchFamily="34" charset="-122"/>
                <a:cs typeface="Calibri" pitchFamily="34" charset="-120"/>
              </a:rPr>
              <a:t>.</a:t>
            </a:r>
            <a:endParaRPr lang="en-US" sz="1000"/>
          </a:p>
        </p:txBody>
      </p:sp>
      <p:sp>
        <p:nvSpPr>
          <p:cNvPr id="34" name="Text 31"/>
          <p:cNvSpPr/>
          <p:nvPr/>
        </p:nvSpPr>
        <p:spPr>
          <a:xfrm>
            <a:off x="11164824" y="6437376"/>
            <a:ext cx="457200" cy="274320"/>
          </a:xfrm>
          <a:prstGeom prst="rect">
            <a:avLst/>
          </a:prstGeom>
          <a:noFill/>
          <a:ln/>
        </p:spPr>
        <p:txBody>
          <a:bodyPr wrap="square" lIns="0" tIns="0" rIns="0" bIns="0" rtlCol="0" anchor="ctr"/>
          <a:lstStyle/>
          <a:p>
            <a:pPr marL="0" indent="0" algn="r">
              <a:buNone/>
            </a:pPr>
            <a:r>
              <a:rPr lang="en-US" sz="900">
                <a:solidFill>
                  <a:srgbClr val="94A3B8"/>
                </a:solidFill>
                <a:latin typeface="Calibri" pitchFamily="34" charset="0"/>
                <a:ea typeface="Calibri" pitchFamily="34" charset="-122"/>
                <a:cs typeface="Calibri" pitchFamily="34" charset="-120"/>
              </a:rPr>
              <a:t>9 / 17</a:t>
            </a:r>
            <a:endParaRPr 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1000" fill="hold"/>
                                        <p:tgtEl>
                                          <p:spTgt spid="1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anim calcmode="lin" valueType="num">
                                      <p:cBhvr>
                                        <p:cTn id="75" dur="1000" fill="hold"/>
                                        <p:tgtEl>
                                          <p:spTgt spid="16"/>
                                        </p:tgtEl>
                                        <p:attrNameLst>
                                          <p:attrName>ppt_x</p:attrName>
                                        </p:attrNameLst>
                                      </p:cBhvr>
                                      <p:tavLst>
                                        <p:tav tm="0">
                                          <p:val>
                                            <p:strVal val="#ppt_x"/>
                                          </p:val>
                                        </p:tav>
                                        <p:tav tm="100000">
                                          <p:val>
                                            <p:strVal val="#ppt_x"/>
                                          </p:val>
                                        </p:tav>
                                      </p:tavLst>
                                    </p:anim>
                                    <p:anim calcmode="lin" valueType="num">
                                      <p:cBhvr>
                                        <p:cTn id="76" dur="1000" fill="hold"/>
                                        <p:tgtEl>
                                          <p:spTgt spid="16"/>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1000"/>
                                        <p:tgtEl>
                                          <p:spTgt spid="17"/>
                                        </p:tgtEl>
                                      </p:cBhvr>
                                    </p:animEffect>
                                    <p:anim calcmode="lin" valueType="num">
                                      <p:cBhvr>
                                        <p:cTn id="80" dur="1000" fill="hold"/>
                                        <p:tgtEl>
                                          <p:spTgt spid="17"/>
                                        </p:tgtEl>
                                        <p:attrNameLst>
                                          <p:attrName>ppt_x</p:attrName>
                                        </p:attrNameLst>
                                      </p:cBhvr>
                                      <p:tavLst>
                                        <p:tav tm="0">
                                          <p:val>
                                            <p:strVal val="#ppt_x"/>
                                          </p:val>
                                        </p:tav>
                                        <p:tav tm="100000">
                                          <p:val>
                                            <p:strVal val="#ppt_x"/>
                                          </p:val>
                                        </p:tav>
                                      </p:tavLst>
                                    </p:anim>
                                    <p:anim calcmode="lin" valueType="num">
                                      <p:cBhvr>
                                        <p:cTn id="81" dur="1000" fill="hold"/>
                                        <p:tgtEl>
                                          <p:spTgt spid="17"/>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1000"/>
                                        <p:tgtEl>
                                          <p:spTgt spid="18"/>
                                        </p:tgtEl>
                                      </p:cBhvr>
                                    </p:animEffect>
                                    <p:anim calcmode="lin" valueType="num">
                                      <p:cBhvr>
                                        <p:cTn id="85" dur="1000" fill="hold"/>
                                        <p:tgtEl>
                                          <p:spTgt spid="18"/>
                                        </p:tgtEl>
                                        <p:attrNameLst>
                                          <p:attrName>ppt_x</p:attrName>
                                        </p:attrNameLst>
                                      </p:cBhvr>
                                      <p:tavLst>
                                        <p:tav tm="0">
                                          <p:val>
                                            <p:strVal val="#ppt_x"/>
                                          </p:val>
                                        </p:tav>
                                        <p:tav tm="100000">
                                          <p:val>
                                            <p:strVal val="#ppt_x"/>
                                          </p:val>
                                        </p:tav>
                                      </p:tavLst>
                                    </p:anim>
                                    <p:anim calcmode="lin" valueType="num">
                                      <p:cBhvr>
                                        <p:cTn id="86" dur="1000" fill="hold"/>
                                        <p:tgtEl>
                                          <p:spTgt spid="18"/>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9"/>
                                        </p:tgtEl>
                                        <p:attrNameLst>
                                          <p:attrName>style.visibility</p:attrName>
                                        </p:attrNameLst>
                                      </p:cBhvr>
                                      <p:to>
                                        <p:strVal val="visible"/>
                                      </p:to>
                                    </p:set>
                                    <p:animEffect transition="in" filter="fade">
                                      <p:cBhvr>
                                        <p:cTn id="89" dur="1000"/>
                                        <p:tgtEl>
                                          <p:spTgt spid="19"/>
                                        </p:tgtEl>
                                      </p:cBhvr>
                                    </p:animEffect>
                                    <p:anim calcmode="lin" valueType="num">
                                      <p:cBhvr>
                                        <p:cTn id="90" dur="1000" fill="hold"/>
                                        <p:tgtEl>
                                          <p:spTgt spid="19"/>
                                        </p:tgtEl>
                                        <p:attrNameLst>
                                          <p:attrName>ppt_x</p:attrName>
                                        </p:attrNameLst>
                                      </p:cBhvr>
                                      <p:tavLst>
                                        <p:tav tm="0">
                                          <p:val>
                                            <p:strVal val="#ppt_x"/>
                                          </p:val>
                                        </p:tav>
                                        <p:tav tm="100000">
                                          <p:val>
                                            <p:strVal val="#ppt_x"/>
                                          </p:val>
                                        </p:tav>
                                      </p:tavLst>
                                    </p:anim>
                                    <p:anim calcmode="lin" valueType="num">
                                      <p:cBhvr>
                                        <p:cTn id="91" dur="1000" fill="hold"/>
                                        <p:tgtEl>
                                          <p:spTgt spid="19"/>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1000"/>
                                        <p:tgtEl>
                                          <p:spTgt spid="20"/>
                                        </p:tgtEl>
                                      </p:cBhvr>
                                    </p:animEffect>
                                    <p:anim calcmode="lin" valueType="num">
                                      <p:cBhvr>
                                        <p:cTn id="95" dur="1000" fill="hold"/>
                                        <p:tgtEl>
                                          <p:spTgt spid="20"/>
                                        </p:tgtEl>
                                        <p:attrNameLst>
                                          <p:attrName>ppt_x</p:attrName>
                                        </p:attrNameLst>
                                      </p:cBhvr>
                                      <p:tavLst>
                                        <p:tav tm="0">
                                          <p:val>
                                            <p:strVal val="#ppt_x"/>
                                          </p:val>
                                        </p:tav>
                                        <p:tav tm="100000">
                                          <p:val>
                                            <p:strVal val="#ppt_x"/>
                                          </p:val>
                                        </p:tav>
                                      </p:tavLst>
                                    </p:anim>
                                    <p:anim calcmode="lin" valueType="num">
                                      <p:cBhvr>
                                        <p:cTn id="96" dur="1000" fill="hold"/>
                                        <p:tgtEl>
                                          <p:spTgt spid="20"/>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fade">
                                      <p:cBhvr>
                                        <p:cTn id="99" dur="1000"/>
                                        <p:tgtEl>
                                          <p:spTgt spid="21"/>
                                        </p:tgtEl>
                                      </p:cBhvr>
                                    </p:animEffect>
                                    <p:anim calcmode="lin" valueType="num">
                                      <p:cBhvr>
                                        <p:cTn id="100" dur="1000" fill="hold"/>
                                        <p:tgtEl>
                                          <p:spTgt spid="21"/>
                                        </p:tgtEl>
                                        <p:attrNameLst>
                                          <p:attrName>ppt_x</p:attrName>
                                        </p:attrNameLst>
                                      </p:cBhvr>
                                      <p:tavLst>
                                        <p:tav tm="0">
                                          <p:val>
                                            <p:strVal val="#ppt_x"/>
                                          </p:val>
                                        </p:tav>
                                        <p:tav tm="100000">
                                          <p:val>
                                            <p:strVal val="#ppt_x"/>
                                          </p:val>
                                        </p:tav>
                                      </p:tavLst>
                                    </p:anim>
                                    <p:anim calcmode="lin" valueType="num">
                                      <p:cBhvr>
                                        <p:cTn id="101" dur="1000" fill="hold"/>
                                        <p:tgtEl>
                                          <p:spTgt spid="21"/>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fade">
                                      <p:cBhvr>
                                        <p:cTn id="104" dur="1000"/>
                                        <p:tgtEl>
                                          <p:spTgt spid="22"/>
                                        </p:tgtEl>
                                      </p:cBhvr>
                                    </p:animEffect>
                                    <p:anim calcmode="lin" valueType="num">
                                      <p:cBhvr>
                                        <p:cTn id="105" dur="1000" fill="hold"/>
                                        <p:tgtEl>
                                          <p:spTgt spid="22"/>
                                        </p:tgtEl>
                                        <p:attrNameLst>
                                          <p:attrName>ppt_x</p:attrName>
                                        </p:attrNameLst>
                                      </p:cBhvr>
                                      <p:tavLst>
                                        <p:tav tm="0">
                                          <p:val>
                                            <p:strVal val="#ppt_x"/>
                                          </p:val>
                                        </p:tav>
                                        <p:tav tm="100000">
                                          <p:val>
                                            <p:strVal val="#ppt_x"/>
                                          </p:val>
                                        </p:tav>
                                      </p:tavLst>
                                    </p:anim>
                                    <p:anim calcmode="lin" valueType="num">
                                      <p:cBhvr>
                                        <p:cTn id="106" dur="1000" fill="hold"/>
                                        <p:tgtEl>
                                          <p:spTgt spid="22"/>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3"/>
                                        </p:tgtEl>
                                        <p:attrNameLst>
                                          <p:attrName>style.visibility</p:attrName>
                                        </p:attrNameLst>
                                      </p:cBhvr>
                                      <p:to>
                                        <p:strVal val="visible"/>
                                      </p:to>
                                    </p:set>
                                    <p:animEffect transition="in" filter="fade">
                                      <p:cBhvr>
                                        <p:cTn id="109" dur="1000"/>
                                        <p:tgtEl>
                                          <p:spTgt spid="23"/>
                                        </p:tgtEl>
                                      </p:cBhvr>
                                    </p:animEffect>
                                    <p:anim calcmode="lin" valueType="num">
                                      <p:cBhvr>
                                        <p:cTn id="110" dur="1000" fill="hold"/>
                                        <p:tgtEl>
                                          <p:spTgt spid="23"/>
                                        </p:tgtEl>
                                        <p:attrNameLst>
                                          <p:attrName>ppt_x</p:attrName>
                                        </p:attrNameLst>
                                      </p:cBhvr>
                                      <p:tavLst>
                                        <p:tav tm="0">
                                          <p:val>
                                            <p:strVal val="#ppt_x"/>
                                          </p:val>
                                        </p:tav>
                                        <p:tav tm="100000">
                                          <p:val>
                                            <p:strVal val="#ppt_x"/>
                                          </p:val>
                                        </p:tav>
                                      </p:tavLst>
                                    </p:anim>
                                    <p:anim calcmode="lin" valueType="num">
                                      <p:cBhvr>
                                        <p:cTn id="111" dur="1000" fill="hold"/>
                                        <p:tgtEl>
                                          <p:spTgt spid="23"/>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4"/>
                                        </p:tgtEl>
                                        <p:attrNameLst>
                                          <p:attrName>style.visibility</p:attrName>
                                        </p:attrNameLst>
                                      </p:cBhvr>
                                      <p:to>
                                        <p:strVal val="visible"/>
                                      </p:to>
                                    </p:set>
                                    <p:animEffect transition="in" filter="fade">
                                      <p:cBhvr>
                                        <p:cTn id="114" dur="1000"/>
                                        <p:tgtEl>
                                          <p:spTgt spid="24"/>
                                        </p:tgtEl>
                                      </p:cBhvr>
                                    </p:animEffect>
                                    <p:anim calcmode="lin" valueType="num">
                                      <p:cBhvr>
                                        <p:cTn id="115" dur="1000" fill="hold"/>
                                        <p:tgtEl>
                                          <p:spTgt spid="24"/>
                                        </p:tgtEl>
                                        <p:attrNameLst>
                                          <p:attrName>ppt_x</p:attrName>
                                        </p:attrNameLst>
                                      </p:cBhvr>
                                      <p:tavLst>
                                        <p:tav tm="0">
                                          <p:val>
                                            <p:strVal val="#ppt_x"/>
                                          </p:val>
                                        </p:tav>
                                        <p:tav tm="100000">
                                          <p:val>
                                            <p:strVal val="#ppt_x"/>
                                          </p:val>
                                        </p:tav>
                                      </p:tavLst>
                                    </p:anim>
                                    <p:anim calcmode="lin" valueType="num">
                                      <p:cBhvr>
                                        <p:cTn id="116" dur="1000" fill="hold"/>
                                        <p:tgtEl>
                                          <p:spTgt spid="24"/>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5"/>
                                        </p:tgtEl>
                                        <p:attrNameLst>
                                          <p:attrName>style.visibility</p:attrName>
                                        </p:attrNameLst>
                                      </p:cBhvr>
                                      <p:to>
                                        <p:strVal val="visible"/>
                                      </p:to>
                                    </p:set>
                                    <p:animEffect transition="in" filter="fade">
                                      <p:cBhvr>
                                        <p:cTn id="119" dur="1000"/>
                                        <p:tgtEl>
                                          <p:spTgt spid="25"/>
                                        </p:tgtEl>
                                      </p:cBhvr>
                                    </p:animEffect>
                                    <p:anim calcmode="lin" valueType="num">
                                      <p:cBhvr>
                                        <p:cTn id="120" dur="1000" fill="hold"/>
                                        <p:tgtEl>
                                          <p:spTgt spid="25"/>
                                        </p:tgtEl>
                                        <p:attrNameLst>
                                          <p:attrName>ppt_x</p:attrName>
                                        </p:attrNameLst>
                                      </p:cBhvr>
                                      <p:tavLst>
                                        <p:tav tm="0">
                                          <p:val>
                                            <p:strVal val="#ppt_x"/>
                                          </p:val>
                                        </p:tav>
                                        <p:tav tm="100000">
                                          <p:val>
                                            <p:strVal val="#ppt_x"/>
                                          </p:val>
                                        </p:tav>
                                      </p:tavLst>
                                    </p:anim>
                                    <p:anim calcmode="lin" valueType="num">
                                      <p:cBhvr>
                                        <p:cTn id="121" dur="1000" fill="hold"/>
                                        <p:tgtEl>
                                          <p:spTgt spid="25"/>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26"/>
                                        </p:tgtEl>
                                        <p:attrNameLst>
                                          <p:attrName>style.visibility</p:attrName>
                                        </p:attrNameLst>
                                      </p:cBhvr>
                                      <p:to>
                                        <p:strVal val="visible"/>
                                      </p:to>
                                    </p:set>
                                    <p:animEffect transition="in" filter="fade">
                                      <p:cBhvr>
                                        <p:cTn id="124" dur="1000"/>
                                        <p:tgtEl>
                                          <p:spTgt spid="26"/>
                                        </p:tgtEl>
                                      </p:cBhvr>
                                    </p:animEffect>
                                    <p:anim calcmode="lin" valueType="num">
                                      <p:cBhvr>
                                        <p:cTn id="125" dur="1000" fill="hold"/>
                                        <p:tgtEl>
                                          <p:spTgt spid="26"/>
                                        </p:tgtEl>
                                        <p:attrNameLst>
                                          <p:attrName>ppt_x</p:attrName>
                                        </p:attrNameLst>
                                      </p:cBhvr>
                                      <p:tavLst>
                                        <p:tav tm="0">
                                          <p:val>
                                            <p:strVal val="#ppt_x"/>
                                          </p:val>
                                        </p:tav>
                                        <p:tav tm="100000">
                                          <p:val>
                                            <p:strVal val="#ppt_x"/>
                                          </p:val>
                                        </p:tav>
                                      </p:tavLst>
                                    </p:anim>
                                    <p:anim calcmode="lin" valueType="num">
                                      <p:cBhvr>
                                        <p:cTn id="126" dur="1000" fill="hold"/>
                                        <p:tgtEl>
                                          <p:spTgt spid="26"/>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27"/>
                                        </p:tgtEl>
                                        <p:attrNameLst>
                                          <p:attrName>style.visibility</p:attrName>
                                        </p:attrNameLst>
                                      </p:cBhvr>
                                      <p:to>
                                        <p:strVal val="visible"/>
                                      </p:to>
                                    </p:set>
                                    <p:animEffect transition="in" filter="fade">
                                      <p:cBhvr>
                                        <p:cTn id="129" dur="1000"/>
                                        <p:tgtEl>
                                          <p:spTgt spid="27"/>
                                        </p:tgtEl>
                                      </p:cBhvr>
                                    </p:animEffect>
                                    <p:anim calcmode="lin" valueType="num">
                                      <p:cBhvr>
                                        <p:cTn id="130" dur="1000" fill="hold"/>
                                        <p:tgtEl>
                                          <p:spTgt spid="27"/>
                                        </p:tgtEl>
                                        <p:attrNameLst>
                                          <p:attrName>ppt_x</p:attrName>
                                        </p:attrNameLst>
                                      </p:cBhvr>
                                      <p:tavLst>
                                        <p:tav tm="0">
                                          <p:val>
                                            <p:strVal val="#ppt_x"/>
                                          </p:val>
                                        </p:tav>
                                        <p:tav tm="100000">
                                          <p:val>
                                            <p:strVal val="#ppt_x"/>
                                          </p:val>
                                        </p:tav>
                                      </p:tavLst>
                                    </p:anim>
                                    <p:anim calcmode="lin" valueType="num">
                                      <p:cBhvr>
                                        <p:cTn id="131" dur="1000" fill="hold"/>
                                        <p:tgtEl>
                                          <p:spTgt spid="27"/>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28"/>
                                        </p:tgtEl>
                                        <p:attrNameLst>
                                          <p:attrName>style.visibility</p:attrName>
                                        </p:attrNameLst>
                                      </p:cBhvr>
                                      <p:to>
                                        <p:strVal val="visible"/>
                                      </p:to>
                                    </p:set>
                                    <p:animEffect transition="in" filter="fade">
                                      <p:cBhvr>
                                        <p:cTn id="134" dur="1000"/>
                                        <p:tgtEl>
                                          <p:spTgt spid="28"/>
                                        </p:tgtEl>
                                      </p:cBhvr>
                                    </p:animEffect>
                                    <p:anim calcmode="lin" valueType="num">
                                      <p:cBhvr>
                                        <p:cTn id="135" dur="1000" fill="hold"/>
                                        <p:tgtEl>
                                          <p:spTgt spid="28"/>
                                        </p:tgtEl>
                                        <p:attrNameLst>
                                          <p:attrName>ppt_x</p:attrName>
                                        </p:attrNameLst>
                                      </p:cBhvr>
                                      <p:tavLst>
                                        <p:tav tm="0">
                                          <p:val>
                                            <p:strVal val="#ppt_x"/>
                                          </p:val>
                                        </p:tav>
                                        <p:tav tm="100000">
                                          <p:val>
                                            <p:strVal val="#ppt_x"/>
                                          </p:val>
                                        </p:tav>
                                      </p:tavLst>
                                    </p:anim>
                                    <p:anim calcmode="lin" valueType="num">
                                      <p:cBhvr>
                                        <p:cTn id="13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2" presetClass="entr" presetSubtype="0" fill="hold" grpId="0" nodeType="clickEffect">
                                  <p:stCondLst>
                                    <p:cond delay="0"/>
                                  </p:stCondLst>
                                  <p:childTnLst>
                                    <p:set>
                                      <p:cBhvr>
                                        <p:cTn id="140" dur="1" fill="hold">
                                          <p:stCondLst>
                                            <p:cond delay="0"/>
                                          </p:stCondLst>
                                        </p:cTn>
                                        <p:tgtEl>
                                          <p:spTgt spid="29"/>
                                        </p:tgtEl>
                                        <p:attrNameLst>
                                          <p:attrName>style.visibility</p:attrName>
                                        </p:attrNameLst>
                                      </p:cBhvr>
                                      <p:to>
                                        <p:strVal val="visible"/>
                                      </p:to>
                                    </p:set>
                                    <p:animEffect transition="in" filter="fade">
                                      <p:cBhvr>
                                        <p:cTn id="141" dur="1000"/>
                                        <p:tgtEl>
                                          <p:spTgt spid="29"/>
                                        </p:tgtEl>
                                      </p:cBhvr>
                                    </p:animEffect>
                                    <p:anim calcmode="lin" valueType="num">
                                      <p:cBhvr>
                                        <p:cTn id="142" dur="1000" fill="hold"/>
                                        <p:tgtEl>
                                          <p:spTgt spid="29"/>
                                        </p:tgtEl>
                                        <p:attrNameLst>
                                          <p:attrName>ppt_x</p:attrName>
                                        </p:attrNameLst>
                                      </p:cBhvr>
                                      <p:tavLst>
                                        <p:tav tm="0">
                                          <p:val>
                                            <p:strVal val="#ppt_x"/>
                                          </p:val>
                                        </p:tav>
                                        <p:tav tm="100000">
                                          <p:val>
                                            <p:strVal val="#ppt_x"/>
                                          </p:val>
                                        </p:tav>
                                      </p:tavLst>
                                    </p:anim>
                                    <p:anim calcmode="lin" valueType="num">
                                      <p:cBhvr>
                                        <p:cTn id="143"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1FFB90F-D3DF-4639-8D60-2AB2EFD8773A}">
  <we:reference id="WA200010001" version="1.0.0.1" store="Omex" storeType="OMEX"/>
  <we:alternateReferences>
    <we:reference id="WA200010001" version="1.0.0.1" store="WA200010001" storeType="OMEX"/>
  </we:alternateReferences>
  <we:properties>
    <we:property name="claude.fileId" value="&quot;191bbc22-5938-4b9a-9755-9c239f0371f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1049EBF5C9AD4A807364378F03A471" ma:contentTypeVersion="19" ma:contentTypeDescription="Create a new document." ma:contentTypeScope="" ma:versionID="099210010022a239bb528bf68eadacb0">
  <xsd:schema xmlns:xsd="http://www.w3.org/2001/XMLSchema" xmlns:xs="http://www.w3.org/2001/XMLSchema" xmlns:p="http://schemas.microsoft.com/office/2006/metadata/properties" xmlns:ns3="3b21fc70-17c6-4d6b-b0ac-807e2d1a9e70" xmlns:ns4="b1432e86-f6c1-4785-9433-ad0c689e4c59" xmlns:ns5="cfa8f6ca-0ac6-45a4-867c-f3881cb7aa4f" targetNamespace="http://schemas.microsoft.com/office/2006/metadata/properties" ma:root="true" ma:fieldsID="e4c3bb5db5d54ef85b21608e71f050e8" ns3:_="" ns4:_="" ns5:_="">
    <xsd:import namespace="3b21fc70-17c6-4d6b-b0ac-807e2d1a9e70"/>
    <xsd:import namespace="b1432e86-f6c1-4785-9433-ad0c689e4c59"/>
    <xsd:import namespace="cfa8f6ca-0ac6-45a4-867c-f3881cb7aa4f"/>
    <xsd:element name="properties">
      <xsd:complexType>
        <xsd:sequence>
          <xsd:element name="documentManagement">
            <xsd:complexType>
              <xsd:all>
                <xsd:element ref="ns3:SharedWithUsers" minOccurs="0"/>
                <xsd:element ref="ns4:SharingHintHash" minOccurs="0"/>
                <xsd:element ref="ns4:SharedWithDetails" minOccurs="0"/>
                <xsd:element ref="ns5:MediaServiceMetadata" minOccurs="0"/>
                <xsd:element ref="ns5:MediaServiceFastMetadata" minOccurs="0"/>
                <xsd:element ref="ns5:MediaServiceDateTaken" minOccurs="0"/>
                <xsd:element ref="ns5:MediaServiceAutoTags" minOccurs="0"/>
                <xsd:element ref="ns5:MediaServiceOCR" minOccurs="0"/>
                <xsd:element ref="ns5:MediaServiceLocation" minOccurs="0"/>
                <xsd:element ref="ns5:MediaServiceGenerationTime" minOccurs="0"/>
                <xsd:element ref="ns5:MediaServiceEventHashCode" minOccurs="0"/>
                <xsd:element ref="ns5:MediaServiceAutoKeyPoints" minOccurs="0"/>
                <xsd:element ref="ns5:MediaServiceKeyPoints" minOccurs="0"/>
                <xsd:element ref="ns5:MediaLengthInSeconds" minOccurs="0"/>
                <xsd:element ref="ns5:_activity" minOccurs="0"/>
                <xsd:element ref="ns5:MediaServiceObjectDetectorVersions" minOccurs="0"/>
                <xsd:element ref="ns5:MediaServiceSystemTags" minOccurs="0"/>
                <xsd:element ref="ns5:MediaServiceSearchProperties" minOccurs="0"/>
                <xsd:element ref="ns5: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fc70-17c6-4d6b-b0ac-807e2d1a9e7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1432e86-f6c1-4785-9433-ad0c689e4c59" elementFormDefault="qualified">
    <xsd:import namespace="http://schemas.microsoft.com/office/2006/documentManagement/types"/>
    <xsd:import namespace="http://schemas.microsoft.com/office/infopath/2007/PartnerControls"/>
    <xsd:element name="SharingHintHash" ma:index="9" nillable="true" ma:displayName="Sharing Hint Hash" ma:internalName="SharingHintHash" ma:readOnly="true">
      <xsd:simpleType>
        <xsd:restriction base="dms:Text"/>
      </xsd:simpleType>
    </xsd:element>
    <xsd:element name="SharedWithDetails" ma:index="10"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fa8f6ca-0ac6-45a4-867c-f3881cb7aa4f"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fa8f6ca-0ac6-45a4-867c-f3881cb7aa4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172133C-84A9-4A82-997C-F908D53AF658}">
  <ds:schemaRefs>
    <ds:schemaRef ds:uri="http://schemas.microsoft.com/office/2006/metadata/contentType"/>
    <ds:schemaRef ds:uri="http://schemas.microsoft.com/office/2006/metadata/properties/metaAttributes"/>
    <ds:schemaRef ds:uri="http://www.w3.org/2000/xmlns/"/>
    <ds:schemaRef ds:uri="http://www.w3.org/2001/XMLSchema"/>
    <ds:schemaRef ds:uri="3b21fc70-17c6-4d6b-b0ac-807e2d1a9e70"/>
    <ds:schemaRef ds:uri="b1432e86-f6c1-4785-9433-ad0c689e4c59"/>
    <ds:schemaRef ds:uri="cfa8f6ca-0ac6-45a4-867c-f3881cb7aa4f"/>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40A342-6DD0-466B-938C-FD4521CF13ED}">
  <ds:schemaRefs>
    <ds:schemaRef ds:uri="http://schemas.microsoft.com/office/2006/metadata/properties"/>
    <ds:schemaRef ds:uri="http://www.w3.org/2000/xmlns/"/>
    <ds:schemaRef ds:uri="cfa8f6ca-0ac6-45a4-867c-f3881cb7aa4f"/>
    <ds:schemaRef ds:uri="http://www.w3.org/2001/XMLSchema-instance"/>
    <ds:schemaRef ds:uri="http://schemas.microsoft.com/office/infopath/2007/PartnerControls"/>
  </ds:schemaRefs>
</ds:datastoreItem>
</file>

<file path=customXml/itemProps3.xml><?xml version="1.0" encoding="utf-8"?>
<ds:datastoreItem xmlns:ds="http://schemas.openxmlformats.org/officeDocument/2006/customXml" ds:itemID="{B007BC91-E0A7-446A-BCB9-90C7F3E9EC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TotalTime>
  <Words>366</Words>
  <Application>Microsoft Office PowerPoint</Application>
  <PresentationFormat>Widescreen</PresentationFormat>
  <Paragraphs>27</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Mata, Mikha Jane</dc:creator>
  <cp:lastModifiedBy>Carlos, Liza</cp:lastModifiedBy>
  <cp:revision>37</cp:revision>
  <dcterms:created xsi:type="dcterms:W3CDTF">2026-07-06T01:51:13Z</dcterms:created>
  <dcterms:modified xsi:type="dcterms:W3CDTF">2026-10-20T07:07:56Z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0x0101008A1049EBF5C9AD4A807364378F03A471</vt:lpwstr>
  </property>
</Properties>
</file>